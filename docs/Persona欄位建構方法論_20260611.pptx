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-914400"/>
            <a:ext cx="5669280" cy="566928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2926080"/>
            <a:ext cx="3657600" cy="3657600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5303520"/>
            <a:ext cx="2286000" cy="2286000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73152" cy="1463040"/>
          </a:xfrm>
          <a:prstGeom prst="rect">
            <a:avLst/>
          </a:prstGeom>
          <a:solidFill>
            <a:srgbClr val="00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77724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Persona 欄位建構方法論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7772400" cy="5943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800" b="1">
                <a:solidFill>
                  <a:srgbClr val="FFFFFF"/>
                </a:solidFill>
                <a:latin typeface="Microsoft JhengHei"/>
                <a:ea typeface="Microsoft JhengHei"/>
              </a:rPr>
              <a:t>台北市虛擬市民資料集 — Silicon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90672"/>
            <a:ext cx="8412480" cy="27432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82296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0">
                <a:solidFill>
                  <a:srgbClr val="78909C"/>
                </a:solidFill>
                <a:latin typeface="Microsoft JhengHei"/>
                <a:ea typeface="Microsoft JhengHei"/>
              </a:rPr>
              <a:t>Talon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78909C"/>
                </a:solidFill>
                <a:latin typeface="Microsoft JhengHei"/>
                <a:ea typeface="Microsoft JhengHei"/>
              </a:rPr>
              <a:t>N = 3,000 ｜ 24 屬性欄位 ｜ 產出日期 2026-06-10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355080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78909C"/>
                </a:solidFill>
                <a:latin typeface="Microsoft JhengHei"/>
                <a:ea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資料集總覽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24 個欄位依性質分為五大群組，全部依官方統計與學術理論建構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483864" cy="1874519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209544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</a:rPr>
              <a:t>3,000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209544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虛擬市民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320954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具人口、社會、經濟、心理與政治屬性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2544" y="1371600"/>
            <a:ext cx="3483864" cy="1874519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9704" y="1508760"/>
            <a:ext cx="3209544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</a:rPr>
              <a:t>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9704" y="2286000"/>
            <a:ext cx="3209544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屬性欄位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9704" y="2697480"/>
            <a:ext cx="320954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五大群組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39328" y="1371600"/>
            <a:ext cx="3483864" cy="187451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76488" y="1508760"/>
            <a:ext cx="3209544" cy="777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  <a:ea typeface="Microsoft JhengHei"/>
              </a:rPr>
              <a:t>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76488" y="2286000"/>
            <a:ext cx="3209544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參考文獻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76488" y="2697480"/>
            <a:ext cx="3209544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FFFFFF"/>
                </a:solidFill>
                <a:latin typeface="Microsoft JhengHei"/>
                <a:ea typeface="Microsoft JhengHei"/>
              </a:rPr>
              <a:t>資料來自 11 個官方機關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520440"/>
          <a:ext cx="11457432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914400"/>
                <a:gridCol w="8074152"/>
              </a:tblGrid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群組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欄位數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包含欄位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A. 基本人口屬性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居住地、性別、年齡、年齡組、教育程度、職業、婚姻狀況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B. 媒體與政治傾向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媒體習慣、政黨傾向、國家認同、厭惡政黨、政治世代、歷史印記、分裂投票傾向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C. 經濟與居住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產業別、月收入區間、房產持有狀態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D. 族群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族群（閩南／客家／外省／原住民）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E. 價值觀與關注議題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CO 分數、ST 分數、主類型、核心動機、關注議題、關注子議題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A-1　居住地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依各行政區戶籍人口占比配額，12 區產出占比與官方完全一致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1565C0"/>
                </a:solidFill>
                <a:latin typeface="Microsoft JhengHei"/>
                <a:ea typeface="Microsoft JhengHei"/>
              </a:rPr>
              <a:t>值域：12 個行政區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以各行政區戶籍人口占比為配額基準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按比例將 3,000 名虛擬市民分配至各區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每一行政區至少分配 1 位，避免小區被排除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作為政黨、族群、分裂投票之地域條件變數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臺北市民政局《各行政區戶籍人口數統計》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113 年 12 月，全市 2,490,869 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純官方比例配額；官方 vs 產出占比逐區一致</a:t>
            </a:r>
          </a:p>
        </p:txBody>
      </p:sp>
      <p:pic>
        <p:nvPicPr>
          <p:cNvPr id="13" name="Picture 12" descr="a1_di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3839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5466835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居住地分布（N = 3,000）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A-2　性別　／　A-7　婚姻狀況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性別依各區男女比例精確分配；婚姻依年齡梯度＋地域微調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4983480" cy="228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498348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47640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A-2　性別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709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1565C0"/>
                </a:solidFill>
                <a:latin typeface="Microsoft JhengHei"/>
                <a:ea typeface="Microsoft JhengHei"/>
              </a:rPr>
              <a:t>值域：女、男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47091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47091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依各行政區實際男女比例分區精確分配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每一區性別結構與官方統計一致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官方 女 52.8%／男 47.2%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886200"/>
            <a:ext cx="49834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886200"/>
            <a:ext cx="4983480" cy="50292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" y="3950208"/>
            <a:ext cx="47640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A-7　婚姻狀況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80560"/>
            <a:ext cx="47091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0097A7"/>
                </a:solidFill>
                <a:latin typeface="Microsoft JhengHei"/>
                <a:ea typeface="Microsoft JhengHei"/>
              </a:rPr>
              <a:t>值域：已婚、未婚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83480"/>
            <a:ext cx="47091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074920"/>
            <a:ext cx="470916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年齡決定基本已婚機率（越年長越高）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依各區結婚登記密度作地域微調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家管身分直接套用已婚機率 0.88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官方有偶率梯度：25–29 歲 13.8% → 60–64 歲 68.4%</a:t>
            </a:r>
          </a:p>
        </p:txBody>
      </p:sp>
      <p:pic>
        <p:nvPicPr>
          <p:cNvPr id="16" name="Picture 15" descr="a2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783080"/>
            <a:ext cx="3017520" cy="302065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577840" y="4876885"/>
            <a:ext cx="3017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性別（產出 52.9 / 47.1）</a:t>
            </a:r>
          </a:p>
        </p:txBody>
      </p:sp>
      <p:pic>
        <p:nvPicPr>
          <p:cNvPr id="18" name="Picture 17" descr="a7_marri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783080"/>
            <a:ext cx="3017520" cy="290018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732520" y="4756420"/>
            <a:ext cx="30175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婚姻（產出 51.8 / 48.2）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78909C"/>
                </a:solidFill>
                <a:latin typeface="Microsoft JhengHei"/>
                <a:ea typeface="Microsoft JhengHei"/>
              </a:rPr>
              <a:t>＊資料來源：臺北市民政局性別人口統計、婚姻登記統計（113 年）；行政院主計總處全國年齡別有偶率統計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A-3　年齡　／　A-4　年齡組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兩階段抽樣產生確切歲數，再固定換算 6 級距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6A1B9A"/>
                </a:solidFill>
                <a:latin typeface="Microsoft JhengHei"/>
                <a:ea typeface="Microsoft JhengHei"/>
              </a:rPr>
              <a:t>值域：連續歲數 → 6 個年齡組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① 依各區「每 5 歲一組」人口比例決定 5 歲組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② 於該組區間內隨機指派確切歲數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反映各行政區年齡結構差異（高齡化程度）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年齡組由年齡固定換算，無隨機性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為教育、收入、價值觀、投票等欄位核心條件變數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臺北市民政局《各行政區年齡別人口統計》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113 年，15 歲以上 2,187,844 人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官方 vs 產出：65 歲以上 26.3% → 25.5%</a:t>
            </a:r>
          </a:p>
        </p:txBody>
      </p:sp>
      <p:pic>
        <p:nvPicPr>
          <p:cNvPr id="13" name="Picture 12" descr="a4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416" y="1463040"/>
            <a:ext cx="4656847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78416" y="5696712"/>
            <a:ext cx="465684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年齡組分布（N = 3,000）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A-5　教育程度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依官方教育分布比例分配，加入年齡合理性檢查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值域：6 級（碩士以上～國小以下）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依台北市教育程度分布按比例分配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年齡合理性檢查：學歷不得違反年齡上限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碩士至少 22 歲、大學至少 18 歲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避免「18 歲擁有碩士學歷」之矛盾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臺北市主計處／民政局《教育程度別人口統計》（113 年）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官方 vs 產出：大學 38.5% → 37.5%、碩士以上 15.6% → 14.7%</a:t>
            </a:r>
          </a:p>
        </p:txBody>
      </p:sp>
      <p:pic>
        <p:nvPicPr>
          <p:cNvPr id="13" name="Picture 12" descr="a5_ed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681" y="1463040"/>
            <a:ext cx="4458316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777681" y="5696712"/>
            <a:ext cx="4458316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教育程度分布（N = 3,000）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A-6　職業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先判定勞動狀態，再依臺北市就業結構分配職業類別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2E7D32"/>
                </a:solidFill>
                <a:latin typeface="Microsoft JhengHei"/>
                <a:ea typeface="Microsoft JhengHei"/>
              </a:rPr>
              <a:t>值域：11 類（含退休／學生／家管）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① 依年齡判定勞動狀態（就業／就學／退休／家管）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② 就業者依臺北市就業結構分配職業類別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合理性限制：低學歷不分配管理職、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70 歲以上就業者多歸專業人員、男性家管高機率重抽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為「產業別」「月收入區間」之上游條件變數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3258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臺北市主計處《就業結構統計》（就業者職業別占比）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官方 vs 產出（就業者）：專業人員 24.3% → 24.6%</a:t>
            </a:r>
          </a:p>
        </p:txBody>
      </p:sp>
      <p:pic>
        <p:nvPicPr>
          <p:cNvPr id="13" name="Picture 12" descr="a6_j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338490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5012538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職業分布（全體 3,000 人，含非就業）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B-1　媒體習慣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依各年齡層真實平台使用率逐一判定（15 平台可複選，故以長條圖呈現）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2120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21208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49926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9377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1565C0"/>
                </a:solidFill>
                <a:latin typeface="Microsoft JhengHei"/>
                <a:ea typeface="Microsoft JhengHei"/>
              </a:rPr>
              <a:t>值域：15 個平台，可複選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49377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49377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依各年齡層真實使用率逐平台判定是否使用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年輕族群 IG／TikTok 機率高、長者低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至少保留 LINE 作為基本通訊平台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65 歲以上排除使用率 &lt; 2% 的年輕導向平台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媒體種數作為 ST 軸與分裂投票之條件信號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212080" cy="13258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4937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NCC《媒體使用行為及滿意度調查》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各平台年齡層使用率基礎統計</a:t>
            </a:r>
          </a:p>
        </p:txBody>
      </p:sp>
      <p:pic>
        <p:nvPicPr>
          <p:cNvPr id="13" name="Picture 12" descr="b1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08760"/>
            <a:ext cx="5989320" cy="414264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760720" y="5724559"/>
            <a:ext cx="5989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平台覆蓋率（全體 3,000 人，可複選）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B-2　政黨傾向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直接以 2020 不分區立委各區真實得票結構分配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0097A7"/>
                </a:solidFill>
                <a:latin typeface="Microsoft JhengHei"/>
                <a:ea typeface="Microsoft JhengHei"/>
              </a:rPr>
              <a:t>值域：國民黨、民進黨、其他政黨、台灣民眾黨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依各行政區 2020 年第 10 屆立委（不分區）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選舉之實際政黨得票比例分配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偏綠區民進黨機率較高，偏藍區相反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為國家認同、厭惡政黨、分裂投票、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價值觀 CO 軸等多欄之關鍵條件變數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中央選舉委員會《2020 年第 10 屆全國不分區立委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選舉—臺北市各區得票數一覽表》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依真實開票比例，無主觀調整</a:t>
            </a:r>
          </a:p>
        </p:txBody>
      </p:sp>
      <p:pic>
        <p:nvPicPr>
          <p:cNvPr id="13" name="Picture 12" descr="b2_par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942" y="1463040"/>
            <a:ext cx="4669795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671942" y="5696712"/>
            <a:ext cx="466979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政黨傾向分布（N = 3,000）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B-3　國家認同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連續量尺，依政黨別分布形狀產生，以民調年齡組平均作分布基準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2120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21208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49926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9377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6A1B9A"/>
                </a:solidFill>
                <a:latin typeface="Microsoft JhengHei"/>
                <a:ea typeface="Microsoft JhengHei"/>
              </a:rPr>
              <a:t>值域：0–10 連續量尺（越高越偏台灣認同）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49377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49377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依不同政黨傾向之「分布形狀」隨機產生分數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民進黨支持者平均較高且集中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國民黨支持者較低且較分散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常用 WeChat／小紅書者設分數上限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（反映跨海峽資訊環境之關聯）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212080" cy="13258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49377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493776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TPOC 民意調查資料（各年齡組平均值作為分布基準）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無單一論文；採政治認同×政黨傾向之一般性結論</a:t>
            </a:r>
          </a:p>
        </p:txBody>
      </p:sp>
      <p:pic>
        <p:nvPicPr>
          <p:cNvPr id="13" name="Picture 12" descr="b3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508760"/>
            <a:ext cx="5989320" cy="402982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760720" y="5611735"/>
            <a:ext cx="59893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民調各年齡組平均分數（分布基準）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B-4　厭惡政黨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以真實民調樣本最近鄰匹配分配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值域：5 類｜方法：最近鄰匹配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從真實民調樣本中找出條件相近之受訪者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（同地區、年齡、教育、性別）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依其最反感政黨之分布進行分配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排除該市民本身支持之政黨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作為分裂投票傾向的正向信號之一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TPOC 民意調查資料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民調 vs 產出：民眾黨 32.1% → 33.9%、民進黨 31.0% → 28.4%</a:t>
            </a:r>
          </a:p>
        </p:txBody>
      </p:sp>
      <p:pic>
        <p:nvPicPr>
          <p:cNvPr id="13" name="Picture 12" descr="b4_disli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411266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5648858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厭惡政黨分布（N = 3,000）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B-5／B-6　政治與歷史印記（世代／事件）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以「20 歲啟蒙年」劃分 6 個政治世代，並配對標誌性政治事件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2E7D32"/>
                </a:solidFill>
                <a:latin typeface="Microsoft JhengHei"/>
                <a:ea typeface="Microsoft JhengHei"/>
              </a:rPr>
              <a:t>值域：6 個政治世代＋37 種標誌事件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依年齡劃分 6 個政治世代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各世代以「20 歲啟蒙年」對應之歷史時期界定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B-6 以 20 歲當年重大政治事件配對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作為其「政治成年記憶」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高頻事件：美麗島事件 537、賴清德當選 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Mannheim, K. (1952). The Problem of Generations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政治世代理論：同一時期成長者共享政治記憶，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形成世代意識；資料：台灣歷史年表</a:t>
            </a:r>
          </a:p>
        </p:txBody>
      </p:sp>
      <p:pic>
        <p:nvPicPr>
          <p:cNvPr id="13" name="Picture 12" descr="b5_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12" y="1463040"/>
            <a:ext cx="4984855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14412" y="5696712"/>
            <a:ext cx="4984855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政治世代分布（N = 3,000）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B-6　世代、年齡與代表事件對照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以「20 歲啟蒙年」對應之歷史時期界定，年齡越大、世代越早（以 2026 年現齡為準）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57432" cy="4846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188720"/>
                <a:gridCol w="1188720"/>
                <a:gridCol w="5879592"/>
                <a:gridCol w="868680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政治世代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2026 年現齡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約略出生年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形成期（20 歲啟蒙年）代表事件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人數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威權／解嚴世代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59 歲以上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1967 以前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白色恐怖、美麗島事件（1979）、江南案（1984）、民進黨成立（1986）、解嚴（1987）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1,071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民主轉型世代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47–58 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1968–1979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蔣經國逝世、野百合學運（1990）、立委全面改選（1992）、首次總統直選（1996）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662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本土化世代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39–46 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1980–1987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首次政黨輪替（2000）、SARS（2003）、兩顆子彈（2004）、紅衫軍倒扁（2006）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公民運動世代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28–38 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1988–1998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馬英九當選（2008）、洪仲丘案（2013）、太陽花學運（2014）、同婚釋憲（2017）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481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社群網路／抗中保台世代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20–27 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1999–2006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香港反送中（2019）、蔡英文 817 萬票連任／COVID-19（2020）、賴清德當選（2024）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234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AI 與短影音世代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15–19 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2007–2011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成長記憶：反送中、COVID-19、俄烏戰爭、社群假訊息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132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78909C"/>
                </a:solidFill>
                <a:latin typeface="Microsoft JhengHei"/>
                <a:ea typeface="Microsoft JhengHei"/>
              </a:rPr>
              <a:t>＊B-6 以該市民「20 歲時」對應年份配對當年重大政治事件，作為其政治成年記憶（共 37 種）；資料來源：台灣歷史年表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B-7　分裂投票傾向（三層複合模型）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值域：0.05–0.95 連續機率，越高越可能總統票與政黨票投不同政黨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14344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14344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26464"/>
            <a:ext cx="3422904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01952"/>
            <a:ext cx="3331464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0D1B2A"/>
                </a:solidFill>
                <a:latin typeface="Microsoft JhengHei"/>
                <a:ea typeface="Microsoft JhengHei"/>
              </a:rPr>
              <a:t>Level 1　強否信號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68880"/>
            <a:ext cx="324002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2032"/>
            <a:ext cx="3331464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立場鮮明者固定低機率 0.10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兩大黨×深色認同（1–3／8–10）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65 歲以上固定政黨傾向者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94759"/>
            <a:ext cx="3514344" cy="4114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25823" y="2560320"/>
            <a:ext cx="3657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2000" b="0">
                <a:solidFill>
                  <a:srgbClr val="78909C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7304" y="1371600"/>
            <a:ext cx="3514344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7304" y="1371600"/>
            <a:ext cx="3514344" cy="45720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3024" y="1426464"/>
            <a:ext cx="3422904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8744" y="1901952"/>
            <a:ext cx="3331464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0D1B2A"/>
                </a:solidFill>
                <a:latin typeface="Microsoft JhengHei"/>
                <a:ea typeface="Microsoft JhengHei"/>
              </a:rPr>
              <a:t>Level 2　信號加減分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74464" y="2468880"/>
            <a:ext cx="324002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28744" y="2542032"/>
            <a:ext cx="3331464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prob = 0.5 + 0.10×(正−負)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正向：15–34 歲、認同居中、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平台 ≥ 3、有厭惡政黨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負向：55+、僅 LINE、支持兩大黨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7304" y="3794759"/>
            <a:ext cx="3514344" cy="41148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97368" y="2560320"/>
            <a:ext cx="3657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2000" b="0">
                <a:solidFill>
                  <a:srgbClr val="78909C"/>
                </a:solidFill>
                <a:latin typeface="Microsoft JhengHei"/>
                <a:ea typeface="Microsoft Jheng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8847" y="1371600"/>
            <a:ext cx="3514344" cy="2834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8847" y="1371600"/>
            <a:ext cx="3514344" cy="4572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54568" y="1426464"/>
            <a:ext cx="3422904" cy="34747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00288" y="1901952"/>
            <a:ext cx="3331464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0D1B2A"/>
                </a:solidFill>
                <a:latin typeface="Microsoft JhengHei"/>
                <a:ea typeface="Microsoft JhengHei"/>
              </a:rPr>
              <a:t>Level 3　行政區校正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46008" y="2468880"/>
            <a:ext cx="3240024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00288" y="2542032"/>
            <a:ext cx="3331464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2020 各區總統票 vs 政黨票落差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標準化後映射 ±0.05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37474F"/>
                </a:solidFill>
                <a:latin typeface="Microsoft JhengHei"/>
                <a:ea typeface="Microsoft JhengHei"/>
              </a:rPr>
              <a:t>避免生態謬誤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08847" y="3794759"/>
            <a:ext cx="3514344" cy="4114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434840"/>
            <a:ext cx="11457432" cy="169164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544568"/>
            <a:ext cx="1118311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參考論文（6 篇）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92040"/>
            <a:ext cx="11183112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Campbell et al. (1960) The American Voter（密西根模型）｜Cox (1997) Making Votes Count（策略投票）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Mutz (2006) Hearing the Other Side（跨立場媒體暴露）｜King (1997) Ecological Inference（生態推論）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陳陸輝（2000）《選舉研究》、吳重禮（2003）《政治科學論叢》：本土拆票實證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100" b="0">
                <a:solidFill>
                  <a:srgbClr val="78909C"/>
                </a:solidFill>
                <a:latin typeface="Microsoft JhengHei"/>
                <a:ea typeface="Microsoft JhengHei"/>
              </a:rPr>
              <a:t>＊現實校驗（中選會 2024 總統票 vs 政黨票）：民進黨 −3.89pp、國民黨 +1.09pp、民眾黨 −4.39pp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C-1　產業別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職業別條件機率加權抽樣＋台北市產業結構調整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1565C0"/>
                </a:solidFill>
                <a:latin typeface="Microsoft JhengHei"/>
                <a:ea typeface="Microsoft JhengHei"/>
              </a:rPr>
              <a:t>值域：13 個行業大類＋非就業人口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① 以全國行業分布為基底權重，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　依「職業 × 行業」條件機率矩陣抽樣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② 台北市調整係數：資訊 ×3.0、金融 ×2.5、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　公行 ×1.8；製造 ×0.25、農林 ×0.05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③ 退休／學生／家管／待業不分配產業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4173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參考論文／資料來源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Heckman &amp; Honoré (1990) Roy Model：職業排序／勞動市場結構理論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主計總處《人力資源調查年報》表 46（111 年）；臺北市統計年報表 34</a:t>
            </a:r>
          </a:p>
        </p:txBody>
      </p:sp>
      <p:pic>
        <p:nvPicPr>
          <p:cNvPr id="13" name="Picture 12" descr="c1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333472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4962357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產業別分布（就業者 1,844 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C-2　月收入區間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職業 × 教育 × 年齡三因素相乘，級距依十等分位 × 台北加成 1.35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0097A7"/>
                </a:solidFill>
                <a:latin typeface="Microsoft JhengHei"/>
                <a:ea typeface="Microsoft JhengHei"/>
              </a:rPr>
              <a:t>值域：6 級距（4 萬以下～25 萬以上）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三因素相乘後正規化抽樣：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職業（基底分布）× 教育（研究所中位數約為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大學 2 倍）× 年齡（40–54 歲較高）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級距切點＝全國薪資十等分位 × 台北加成 1.35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（中位數 70.8 ÷ 52.5 萬；調整後誤差僅 0.1%）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4173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主計總處《受僱員工全年總薪資中位數及分布統計》（112 年）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《薪情平台》交叉查詢；臺北市《家庭收支調查》（112 年）</a:t>
            </a:r>
          </a:p>
        </p:txBody>
      </p:sp>
      <p:pic>
        <p:nvPicPr>
          <p:cNvPr id="13" name="Picture 12" descr="c2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362014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5156333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月收入分布（估計 vs 產出：6~10 萬 35% → 36.5%）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C-3　房產持有狀態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以普查自有率 72.1% 為底層，依年齡、收入、婚姻條件調整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2788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6A1B9A"/>
                </a:solidFill>
                <a:latin typeface="Microsoft JhengHei"/>
                <a:ea typeface="Microsoft JhengHei"/>
              </a:rPr>
              <a:t>值域：4 類（自有×2、租屋、借住／配住）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463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以台北市住宅自有率 72.1% 為底層分布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年齡：年輕租屋機率高、40 歲以上自有攀升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收入：越高自有機率越高（高房價所得比）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婚姻：已婚者購屋機率提升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產出自有合計 67.6%，與普查方向一致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902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37760"/>
            <a:ext cx="5394960" cy="9601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主計總處《109 年人口及住宅普查》（自有率 72.1%）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《113 年家庭收支調查》（含親屬自有 84.4%）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政大不動產研究中心（2024）出租住宅統計</a:t>
            </a:r>
          </a:p>
        </p:txBody>
      </p:sp>
      <p:pic>
        <p:nvPicPr>
          <p:cNvPr id="13" name="Picture 12" descr="c3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486400" cy="369335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522955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房產持有分布（N = 3,000）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D-1　族群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採「現代自我認同」定義，三維度條件機率調整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值域：閩南、客家、外省、原住民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依「自己認為屬於哪個族群」而非祖籍血緣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年齡（最強因子）：外省 65+ ×2.5、15–24 ×0.3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居住地（眷村地理）：中正大安 ×1.4、萬華大同 ×0.7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政黨交叉驗證：外省 × 國民黨 ×1.6、民進黨 ×0.4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邊界：外省上限 0.60、閩南下限 0.15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4173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參考論文／資料來源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葉高華（2016／2018）：眷村歷史地理分布｜吳乃德（2002）：外省×國民黨忠誠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客委會 110 年全國客家調查（樣本 63,111 份）；原民會；北市民政局</a:t>
            </a:r>
          </a:p>
        </p:txBody>
      </p:sp>
      <p:pic>
        <p:nvPicPr>
          <p:cNvPr id="13" name="Picture 12" descr="d1_eth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368" y="1463040"/>
            <a:ext cx="4220942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896368" y="5696712"/>
            <a:ext cx="4220942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族群分布（基準 vs 產出：客家 17.4% → 18.2%）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E-1～E-4　社會價值觀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以 Schwartz 兩條正交軸定位，組合出 4 主類型與核心動機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2E7D32"/>
                </a:solidFill>
                <a:latin typeface="Microsoft JhengHei"/>
                <a:ea typeface="Microsoft JhengHei"/>
              </a:rPr>
              <a:t>值域：CO／ST 分數 [−10, +10]＋4 主類型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CO 軸（保守↔開放）：年齡、教育、宗教、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　政黨、國家認同、族群六項加總線性縮放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ST 軸（自我提升↔超越自我）：性別、教育、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　收入、職業、宗教、媒體多元度六項加總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兩軸正負組合 → 4 主類型，各對應一句核心動機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50876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參考論文（Schwartz 系列 4 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Schwartz (1992) 基本人類價值理論（82 國驗證，唯一理論框架）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Schwartz &amp; Rubel (2005) 性別差異｜Saroglou et al. (2004) 宗教與價值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Schwartz et al. (2014) 價值與政治；驗證：WVS 第 7 波台灣資料</a:t>
            </a:r>
          </a:p>
        </p:txBody>
      </p:sp>
      <p:pic>
        <p:nvPicPr>
          <p:cNvPr id="13" name="Picture 12" descr="e1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41" y="1463040"/>
            <a:ext cx="5213597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00041" y="5696712"/>
            <a:ext cx="5213597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價值觀主類型分布（N = 3,000）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E-5／E-6　關注議題／關注子議題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每人 1–3 個議題標籤，8 大類加權得分後機率抽樣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17320"/>
            <a:ext cx="566928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669280" cy="5029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" y="1481328"/>
            <a:ext cx="5449824" cy="38404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</a:rPr>
              <a:t>建立方法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3949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1565C0"/>
                </a:solidFill>
                <a:latin typeface="Microsoft JhengHei"/>
                <a:ea typeface="Microsoft JhengHei"/>
              </a:rPr>
              <a:t>值域：8 大議題類，各對應代表子議題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39496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5394960" cy="1691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年齡組：25–34 調高居住／經濟，45+ 調高社福／兩岸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教育：高學歷調高環境／社進／治理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收入：4 萬以下調高經濟／社福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政黨、媒體、世代、價值觀主類型依方向性對映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子議題於選定大類中抽取，與核心動機邏輯一致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09160"/>
            <a:ext cx="5669280" cy="150876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818888"/>
            <a:ext cx="53949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1">
                <a:solidFill>
                  <a:srgbClr val="E65100"/>
                </a:solidFill>
                <a:latin typeface="Microsoft JhengHei"/>
                <a:ea typeface="Microsoft JhengHei"/>
              </a:rPr>
              <a:t>📌 參考論文（4 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166360"/>
            <a:ext cx="539496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Inglehart (1977／1997) 後物質主義｜Elder (1994) 生命歷程理論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McCombs &amp; Shaw (1972) 議程設定｜Mannheim (1952) 世代理論</a:t>
            </a:r>
          </a:p>
          <a:p>
            <a:pPr algn="l">
              <a:lnSpc>
                <a:spcPct val="120000"/>
              </a:lnSpc>
            </a:pPr>
            <a:r>
              <a:rPr sz="1300" b="0">
                <a:solidFill>
                  <a:srgbClr val="37474F"/>
                </a:solidFill>
                <a:latin typeface="Microsoft JhengHei"/>
                <a:ea typeface="Microsoft JhengHei"/>
              </a:rPr>
              <a:t>資料：衛福部長照需求評估、內政部住宅狀況調查</a:t>
            </a:r>
          </a:p>
        </p:txBody>
      </p:sp>
      <p:pic>
        <p:nvPicPr>
          <p:cNvPr id="13" name="Picture 12" descr="e5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249" y="1463040"/>
            <a:ext cx="5399181" cy="41605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307249" y="5696712"/>
            <a:ext cx="5399181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  <a:r>
              <a:rPr sz="1400" b="1">
                <a:solidFill>
                  <a:srgbClr val="0D1B2A"/>
                </a:solidFill>
                <a:latin typeface="Microsoft JhengHei"/>
                <a:ea typeface="Microsoft JhengHei"/>
              </a:rPr>
              <a:t>關注議題分布（單一首選計）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資料來源一覽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11 個機關之官方統計與調查資料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57431" cy="4983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029200"/>
                <a:gridCol w="4050791"/>
              </a:tblGrid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機關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提供資料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用於欄位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臺北市政府民政局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各區性別／年齡／婚姻登記人口統計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居住地、性別、年齡、婚姻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臺北市政府主計處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教育程度、就業結構、家庭收支、統計年報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教育、職業、產業、月收入、房產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行政院主計總處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人力資源調查、薪資統計、家庭收支、普查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婚姻、產業、月收入、房產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中央選舉委員會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2020 總統＆不分區立委台北市開票結果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政黨傾向、分裂投票傾向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客家委員會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110 年全國客家人口暨語言基礎資料調查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族群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原住民族委員會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原住民人口統計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族群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衛生福利部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長照需求評估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關注議題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內政部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住宅狀況調查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關注議題、房產（參照）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政大不動產研究中心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房價負擔／出租住宅統計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房產持有狀態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國家通訊傳播委員會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媒體使用行為調查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媒體習慣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529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TPOC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民意調查資料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國家認同、厭惡政黨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參考文獻一覽（一）價值觀與議題理論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深層心理欄位之理論依據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57432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8312"/>
                <a:gridCol w="2194560"/>
                <a:gridCol w="219456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文獻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理論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用於欄位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Schwartz (1992). Universals in the Content and Structure of Values. AESP, 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基本人類價值理論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CO／ST 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Schwartz &amp; Rubel (2005). Sex Differences in Value Priorities. JPSP, 89(6)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價值之性別差異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ST 軸性別打分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Saroglou et al. (2004). Values and Religiosity: A Meta-analysis. PAID, 37(4)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宗教×傳統順從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宗教打分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Schwartz et al. (2014). Basic Personal Values… Political Values. Pol. Behav., 36(2)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價值×政治左右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政黨打分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Inglehart (1977; 1997). The Silent Revolution; Modernization and Postmodernization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後物質主義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關注議題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Elder (1994). Time, Human Agency, and Social Change. SPQ, 57(1)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生命歷程理論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議題×年齡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McCombs &amp; Shaw (1972). The Agenda-Setting Function of Mass Media. POQ, 36(2)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議程設定理論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議題×媒體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Mannheim (1952). The Problem of Generations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政治世代理論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政治世代、議題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3600" b="1">
                <a:solidFill>
                  <a:srgbClr val="0D1B2A"/>
                </a:solidFill>
                <a:latin typeface="Microsoft JhengHei"/>
                <a:ea typeface="Microsoft JhengHei"/>
              </a:rPr>
              <a:t>參考文獻一覽（二）投票行為・族群・勞動市場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300" b="0">
                <a:solidFill>
                  <a:srgbClr val="78909C"/>
                </a:solidFill>
                <a:latin typeface="Microsoft JhengHei"/>
                <a:ea typeface="Microsoft JhengHei"/>
              </a:rPr>
              <a:t>分裂投票、族群與產業欄位之理論依據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57432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8312"/>
                <a:gridCol w="2468880"/>
                <a:gridCol w="192024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文獻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理論／結論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用於欄位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Campbell et al. (1960). The American Voter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密西根模型／政黨認同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Cox (1997). Making Votes Count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理性選擇／策略投票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Mutz (2006). Hearing the Other Side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跨立場媒體暴露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King (1997). A Solution to the Ecological Inference Problem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生態推論方法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Robinson (1950). Ecological Correlations… ASR, 15(3)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生態謬誤警示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陳陸輝（2000）〈台灣選民政黨認同的持續與變遷〉《選舉研究》7(2)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淺色選民較易拆票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吳重禮（2003）〈我國選民分裂投票之研究〉《政治科學論叢》19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認同強度最顯著預測因子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Wu (2008). Split-ticket Voting in Taiwan. Electoral Studies, 27(3)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台灣拆票實證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分裂投票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葉高華（2016；2018）〈外省人在哪裡？〉〈外省人的人數、來源與分布〉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眷村歷史地理分布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族群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吳乃德（2002）〈認同衝突和政治信任〉《台灣社會學》4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外省×國民黨忠誠度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族群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Heckman &amp; Honoré (1990). The Empirical Content of the Roy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職業排序／勞動市場結構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7474F"/>
                          </a:solidFill>
                          <a:latin typeface="Microsoft JhengHei"/>
                          <a:ea typeface="Microsoft JhengHei"/>
                        </a:rPr>
                        <a:t>產業別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4572000" cy="457200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3657600"/>
            <a:ext cx="2743200" cy="2743200"/>
          </a:xfrm>
          <a:prstGeom prst="ellipse">
            <a:avLst/>
          </a:prstGeom>
          <a:solidFill>
            <a:srgbClr val="0097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011680"/>
            <a:ext cx="73152" cy="1280160"/>
          </a:xfrm>
          <a:prstGeom prst="rect">
            <a:avLst/>
          </a:prstGeom>
          <a:solidFill>
            <a:srgbClr val="00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Microsoft JhengHei"/>
                <a:ea typeface="Microsoft JhengHei"/>
              </a:rPr>
              <a:t>Thanks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731520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2200" b="0">
                <a:solidFill>
                  <a:srgbClr val="00C8E8"/>
                </a:solidFill>
                <a:latin typeface="Microsoft JhengHei"/>
                <a:ea typeface="Microsoft JhengHei"/>
              </a:rPr>
              <a:t>感謝聆聽 — Persona 欄位建構方法論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20440"/>
            <a:ext cx="8229600" cy="27432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70332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0">
                <a:solidFill>
                  <a:srgbClr val="78909C"/>
                </a:solidFill>
                <a:latin typeface="Microsoft JhengHei"/>
                <a:ea typeface="Microsoft JhengHei"/>
              </a:rPr>
              <a:t>Talon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